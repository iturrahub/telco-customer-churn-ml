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20" roundtripDataSignature="AMtx7mgzJcU7S1gP+1GVZY49AAxFDCHlM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8243EC1-A7E7-49EB-8BBE-7283C523550F}">
  <a:tblStyle styleId="{F8243EC1-A7E7-49EB-8BBE-7283C523550F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customschemas.google.com/relationships/presentationmetadata" Target="meta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19" Type="http://schemas.openxmlformats.org/officeDocument/2006/relationships/slide" Target="slides/slide13.xml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Duración orientativa: 0:30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GUION DEL PRESENTADOR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Buenas tardes. Nuestro proyecto busca anticipar el abandono de clientes y descubrir segmentos para apoyar decisiones de retención. Trabajamos con el caso Telco Customer Churn, bajo la metodología CRISP-DM.</a:t>
            </a:r>
            <a:endParaRPr/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5" name="Google Shape;95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Duración orientativa: 0:45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GUION DEL PRESENTADOR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 7.043 clientes, 1.869 abandonaron: un 26,54%. No solo queremos obtener una buena exactitud: nos interesa detectar a los clientes que realmente abandonan. Por eso damos especial importancia al recall y utilizamos F1 y ROC-AUC como métricas complementarias.</a:t>
            </a:r>
            <a:endParaRPr/>
          </a:p>
        </p:txBody>
      </p:sp>
      <p:sp>
        <p:nvSpPr>
          <p:cNvPr id="96" name="Google Shape;96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9" name="Google Shape;109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Duración orientativa: 0:40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GUION DEL PRESENTADOR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Partimos del problema de negocio y revisamos la calidad de los datos. Aplicamos preparación, modelamiento supervisado y segmentación no supervisada, y finalmente interpretamos los resultados para proponer acciones. El dataset original contiene 21 variables.</a:t>
            </a:r>
            <a:endParaRPr/>
          </a:p>
        </p:txBody>
      </p:sp>
      <p:sp>
        <p:nvSpPr>
          <p:cNvPr id="110" name="Google Shape;110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8" name="Google Shape;128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Duración orientativa: 1:00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GUION DEL PRESENTADOR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Detectamos once TotalCharges vacíos que correspondían a tenure igual a cero, por lo que los reemplazamos por cero. Quitamos customerID para predecir, transformamos categorías en variables numéricas y separamos 80% entrenamiento y 20% prueba conservando la proporción de churn. En Regresión Logística escalamos usando solo entrenamiento para evitar filtración de información; K-Means también requiere escalamiento porque agrupa por distancias.</a:t>
            </a:r>
            <a:endParaRPr/>
          </a:p>
        </p:txBody>
      </p:sp>
      <p:sp>
        <p:nvSpPr>
          <p:cNvPr id="129" name="Google Shape;129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2" name="Google Shape;142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Duración orientativa: 0:45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GUION DEL PRESENTADOR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Aquí observamos asociaciones, no causas. El churn es de 42,71% para contratos mes a mes frente a 2,83% para contratos de dos años. En fibra óptica llega a 41,89%. Son grupos que justifican un análisis más profundo de retención.</a:t>
            </a:r>
            <a:endParaRPr/>
          </a:p>
        </p:txBody>
      </p:sp>
      <p:sp>
        <p:nvSpPr>
          <p:cNvPr id="143" name="Google Shape;143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4" name="Google Shape;154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Duración orientativa: 0:45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GUION DEL PRESENTADOR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Electronic check alcanza aproximadamente 45,29%. También vemos que entre quienes no tienen soporte técnico ni seguridad online, la tasa de churn está cerca de 42%. Estos hallazgos orientan hipótesis comerciales, pero no demuestran causalidad.</a:t>
            </a:r>
            <a:endParaRPr/>
          </a:p>
        </p:txBody>
      </p:sp>
      <p:sp>
        <p:nvSpPr>
          <p:cNvPr id="155" name="Google Shape;155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6" name="Google Shape;166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Duración orientativa: 1:05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GUION DEL PRESENTADOR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Entrenamos Regresión Logística y un Árbol de Decisión, este último optimizado con GridSearchCV y validación cruzada de cinco particiones: max_depth igual a seis. En prueba, la Regresión Logística obtuvo 80,70% de Accuracy y 56,68% de recall; el árbol 80,06% y 49,73%. Elegimos Logística por su mejor recall, F1 y ROC-AUC.</a:t>
            </a:r>
            <a:endParaRPr/>
          </a:p>
        </p:txBody>
      </p:sp>
      <p:sp>
        <p:nvSpPr>
          <p:cNvPr id="167" name="Google Shape;167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8" name="Google Shape;178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Duración orientativa: 0:55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GUION DEL PRESENTADOR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Ambos modelos se evaluaron sobre los mismos 1.409 clientes de prueba. De 374 abandonos reales, Regresión Logística detectó 212; el Árbol, 186. El modelo seleccionado dejó sin identificar 162 abandonos. Por tanto es una herramienta de apoyo, no una automatización infalible.</a:t>
            </a:r>
            <a:endParaRPr/>
          </a:p>
        </p:txBody>
      </p:sp>
      <p:sp>
        <p:nvSpPr>
          <p:cNvPr id="179" name="Google Shape;179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1" name="Google Shape;191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Duración orientativa: 0:55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GUION DEL PRESENTADOR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Para aprendizaje no supervisado aplicamos K-Means a tenure, MonthlyCharges y TotalCharges estandarizadas. Probamos de K=2 a K=10. K=2 tuvo el silhouette más alto, pero K=4 fue cercano y permitió perfiles más útiles para el análisis del negocio.</a:t>
            </a:r>
            <a:endParaRPr/>
          </a:p>
        </p:txBody>
      </p:sp>
      <p:sp>
        <p:nvSpPr>
          <p:cNvPr id="192" name="Google Shape;192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3" name="Google Shape;203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Duración orientativa: 1:00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GUION DEL PRESENTADOR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Los cuatro segmentos difieren en antigüedad y gasto. El clúster 2 concentra 2.276 clientes relativamente recientes y de cargos altos: 48,24% de ellos abandonaron, frente a 5% del clúster 3. Churn se usó después de formar los grupos para interpretarlos; nunca para construirlos.</a:t>
            </a:r>
            <a:endParaRPr/>
          </a:p>
        </p:txBody>
      </p:sp>
      <p:sp>
        <p:nvSpPr>
          <p:cNvPr id="204" name="Google Shape;204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5" name="Google Shape;215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Duración orientativa: 0:40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GUION DEL PRESENTADOR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Aplicamos PCA solamente para mostrar los grupos en dos dimensiones. PC1 y PC2 explican conjuntamente 98,01% de la varianza de las tres variables seleccionadas. PCA no reemplazó ni creó los clústeres.</a:t>
            </a:r>
            <a:endParaRPr/>
          </a:p>
        </p:txBody>
      </p:sp>
      <p:sp>
        <p:nvSpPr>
          <p:cNvPr id="216" name="Google Shape;216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Duración orientativa: 0:55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GUION DEL PRESENTADOR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Como conclusión, recomendaríamos utilizar Regresión Logística para orientar análisis individuales de retención y los segmentos de K-Means para diseñar estrategias diferenciadas. Priorizaríamos el estudio del clúster 2. Debe haber seguimiento de impacto, protección de datos y revisión humana: asociación no significa causalidad y predicción no significa certeza.</a:t>
            </a:r>
            <a:endParaRPr/>
          </a:p>
        </p:txBody>
      </p:sp>
      <p:sp>
        <p:nvSpPr>
          <p:cNvPr id="230" name="Google Shape;230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0" name="Google Shape;240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Duración orientativa: Preguntas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GUION DEL PRESENTADOR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Prepararse para justificar recall frente a accuracy, clasificación frente a clustering, selección de K igual a cuatro frente a K igual a dos y la función de PCA.</a:t>
            </a:r>
            <a:endParaRPr/>
          </a:p>
        </p:txBody>
      </p:sp>
      <p:sp>
        <p:nvSpPr>
          <p:cNvPr id="241" name="Google Shape;241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6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6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8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8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9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9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0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0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0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0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2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2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3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3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3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4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5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5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7F7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7171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685800" y="1051560"/>
            <a:ext cx="107899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Predicción de abandono de clientes</a:t>
            </a:r>
            <a:br>
              <a:rPr b="1" i="0" lang="en-US" sz="2800" u="none" cap="none" strike="noStrike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2800" u="none" cap="none" strike="noStrike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Telco Customer Churn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Evaluación Parcial N°2 — Machine Learning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731520" y="2743200"/>
            <a:ext cx="5513048" cy="13849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Integrantes: Benjamin Luengo, Eduardo Rodriguez y Diego Iturra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Caso A: Predicción de abandono de clientes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Metodología: CRISP-DM | Modelos supervisados + K-Means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Docente: Jazna Meza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"/>
          <p:cNvSpPr/>
          <p:nvPr/>
        </p:nvSpPr>
        <p:spPr>
          <a:xfrm>
            <a:off x="6583680" y="2011680"/>
            <a:ext cx="1600200" cy="1097280"/>
          </a:xfrm>
          <a:prstGeom prst="roundRect">
            <a:avLst>
              <a:gd fmla="val 16667" name="adj"/>
            </a:avLst>
          </a:prstGeom>
          <a:solidFill>
            <a:srgbClr val="F7F7F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Clientes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7.043</a:t>
            </a:r>
            <a:endParaRPr/>
          </a:p>
        </p:txBody>
      </p:sp>
      <p:sp>
        <p:nvSpPr>
          <p:cNvPr id="89" name="Google Shape;89;p1"/>
          <p:cNvSpPr/>
          <p:nvPr/>
        </p:nvSpPr>
        <p:spPr>
          <a:xfrm>
            <a:off x="8366760" y="2011680"/>
            <a:ext cx="1600200" cy="1097280"/>
          </a:xfrm>
          <a:prstGeom prst="roundRect">
            <a:avLst>
              <a:gd fmla="val 16667" name="adj"/>
            </a:avLst>
          </a:prstGeom>
          <a:solidFill>
            <a:srgbClr val="F7F7F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Variables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21</a:t>
            </a:r>
            <a:endParaRPr/>
          </a:p>
        </p:txBody>
      </p:sp>
      <p:sp>
        <p:nvSpPr>
          <p:cNvPr id="90" name="Google Shape;90;p1"/>
          <p:cNvSpPr/>
          <p:nvPr/>
        </p:nvSpPr>
        <p:spPr>
          <a:xfrm>
            <a:off x="10149840" y="2011680"/>
            <a:ext cx="1600200" cy="1097280"/>
          </a:xfrm>
          <a:prstGeom prst="roundRect">
            <a:avLst>
              <a:gd fmla="val 16667" name="adj"/>
            </a:avLst>
          </a:prstGeom>
          <a:solidFill>
            <a:srgbClr val="F7F7F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Churn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26,54%</a:t>
            </a:r>
            <a:endParaRPr/>
          </a:p>
        </p:txBody>
      </p:sp>
      <p:sp>
        <p:nvSpPr>
          <p:cNvPr id="91" name="Google Shape;91;p1"/>
          <p:cNvSpPr/>
          <p:nvPr/>
        </p:nvSpPr>
        <p:spPr>
          <a:xfrm>
            <a:off x="7018018" y="3690025"/>
            <a:ext cx="4297800" cy="13716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Objetivo central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Identificar clientes con riesgo de abandono y descubrir segmentos relevantes para orientar estrategias de retención.</a:t>
            </a:r>
            <a:endParaRPr/>
          </a:p>
        </p:txBody>
      </p:sp>
      <p:sp>
        <p:nvSpPr>
          <p:cNvPr id="92" name="Google Shape;92;p1"/>
          <p:cNvSpPr txBox="1"/>
          <p:nvPr/>
        </p:nvSpPr>
        <p:spPr>
          <a:xfrm>
            <a:off x="548640" y="6446520"/>
            <a:ext cx="8229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MLY1101 — Evaluación Parcial N°2 | Telco Customer Churn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1. Problema de negocio, objetivo y KPIs</a:t>
            </a:r>
            <a:endParaRPr/>
          </a:p>
        </p:txBody>
      </p:sp>
      <p:sp>
        <p:nvSpPr>
          <p:cNvPr id="99" name="Google Shape;99;p2"/>
          <p:cNvSpPr/>
          <p:nvPr/>
        </p:nvSpPr>
        <p:spPr>
          <a:xfrm>
            <a:off x="548640" y="914400"/>
            <a:ext cx="1920240" cy="73152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548640" y="9875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La empresa necesita anticipar el churn para apoyar acciones de retención más focalizadas.</a:t>
            </a:r>
            <a:endParaRPr/>
          </a:p>
        </p:txBody>
      </p:sp>
      <p:sp>
        <p:nvSpPr>
          <p:cNvPr id="101" name="Google Shape;101;p2"/>
          <p:cNvSpPr txBox="1"/>
          <p:nvPr/>
        </p:nvSpPr>
        <p:spPr>
          <a:xfrm>
            <a:off x="640080" y="1463040"/>
            <a:ext cx="5577900" cy="226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50800" spcFirstLastPara="1" rIns="508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Problema</a:t>
            </a:r>
            <a:r>
              <a:rPr lang="en-US" sz="18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: una parte relevante de los clientes abandona el servicio de telecomunicaciones.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Modelo Predictivo</a:t>
            </a:r>
            <a:r>
              <a:rPr lang="en-US" sz="18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: predecir si un cliente abandonará o no.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Segmentación</a:t>
            </a:r>
            <a:r>
              <a:rPr lang="en-US" sz="18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: identificar segmentos de clientes con características similares.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Pregunta clave: ¿qué perfiles concentran mayor riesgo y qué modelo permite detectarlos mejor?</a:t>
            </a:r>
            <a:endParaRPr/>
          </a:p>
        </p:txBody>
      </p:sp>
      <p:sp>
        <p:nvSpPr>
          <p:cNvPr id="102" name="Google Shape;102;p2"/>
          <p:cNvSpPr/>
          <p:nvPr/>
        </p:nvSpPr>
        <p:spPr>
          <a:xfrm>
            <a:off x="6583680" y="1645920"/>
            <a:ext cx="1554480" cy="1280160"/>
          </a:xfrm>
          <a:prstGeom prst="roundRect">
            <a:avLst>
              <a:gd fmla="val 16667" name="adj"/>
            </a:avLst>
          </a:prstGeom>
          <a:solidFill>
            <a:srgbClr val="F7F7F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Tasa global</a:t>
            </a:r>
            <a:br>
              <a:rPr b="1" lang="en-US" sz="12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lang="en-US" sz="12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de churn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26.54%</a:t>
            </a:r>
            <a:endParaRPr/>
          </a:p>
        </p:txBody>
      </p:sp>
      <p:sp>
        <p:nvSpPr>
          <p:cNvPr id="103" name="Google Shape;103;p2"/>
          <p:cNvSpPr/>
          <p:nvPr/>
        </p:nvSpPr>
        <p:spPr>
          <a:xfrm>
            <a:off x="8321040" y="1645920"/>
            <a:ext cx="1554480" cy="1280160"/>
          </a:xfrm>
          <a:prstGeom prst="roundRect">
            <a:avLst>
              <a:gd fmla="val 16667" name="adj"/>
            </a:avLst>
          </a:prstGeom>
          <a:solidFill>
            <a:srgbClr val="F7F7F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Recall</a:t>
            </a:r>
            <a:br>
              <a:rPr b="1" lang="en-US" sz="12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lang="en-US" sz="12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clase positiva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Prioridad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Detectar la mayor cantidad posible de abandonos reales</a:t>
            </a:r>
            <a:endParaRPr/>
          </a:p>
        </p:txBody>
      </p:sp>
      <p:sp>
        <p:nvSpPr>
          <p:cNvPr id="104" name="Google Shape;104;p2"/>
          <p:cNvSpPr/>
          <p:nvPr/>
        </p:nvSpPr>
        <p:spPr>
          <a:xfrm>
            <a:off x="10058400" y="1645920"/>
            <a:ext cx="1554480" cy="1280160"/>
          </a:xfrm>
          <a:prstGeom prst="roundRect">
            <a:avLst>
              <a:gd fmla="val 16667" name="adj"/>
            </a:avLst>
          </a:prstGeom>
          <a:solidFill>
            <a:srgbClr val="F7F7F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F1-Score</a:t>
            </a:r>
            <a:br>
              <a:rPr b="1" lang="en-US" sz="12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lang="en-US" sz="12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y ROC-AUC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Apoyo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Balance y capacidad discriminativa</a:t>
            </a:r>
            <a:endParaRPr/>
          </a:p>
        </p:txBody>
      </p:sp>
      <p:sp>
        <p:nvSpPr>
          <p:cNvPr id="105" name="Google Shape;105;p2"/>
          <p:cNvSpPr txBox="1"/>
          <p:nvPr/>
        </p:nvSpPr>
        <p:spPr>
          <a:xfrm>
            <a:off x="6583680" y="3291840"/>
            <a:ext cx="484632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50800" spcFirstLastPara="1" rIns="508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Distribución del target: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No abandonan: 5.174 clientes (73.46%)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Abandonan: 1.869 clientes (26.54%)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La tasa de abandono por clúster se analiza después del K-Means para interpretar los segmentos.</a:t>
            </a:r>
            <a:endParaRPr/>
          </a:p>
        </p:txBody>
      </p:sp>
      <p:sp>
        <p:nvSpPr>
          <p:cNvPr id="106" name="Google Shape;106;p2"/>
          <p:cNvSpPr txBox="1"/>
          <p:nvPr/>
        </p:nvSpPr>
        <p:spPr>
          <a:xfrm>
            <a:off x="548640" y="6446520"/>
            <a:ext cx="8229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MLY1101 — Evaluación Parcial N°2 | Telco Customer Churn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"/>
          <p:cNvSpPr txBox="1"/>
          <p:nvPr/>
        </p:nvSpPr>
        <p:spPr>
          <a:xfrm>
            <a:off x="822960" y="4297680"/>
            <a:ext cx="10789800" cy="9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50800" spcFirstLastPara="1" rIns="508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Modelos supervisados: Regresión Logística y Árbol de Decisión (optimizado).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Segmentación</a:t>
            </a:r>
            <a:r>
              <a:rPr lang="en-US" sz="16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: K-Means basado en la antigüedad y cargos.</a:t>
            </a:r>
            <a:endParaRPr sz="1600">
              <a:solidFill>
                <a:srgbClr val="17171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Visualización de segmentos: PCA con 2 componentes principales.</a:t>
            </a:r>
            <a:endParaRPr/>
          </a:p>
        </p:txBody>
      </p:sp>
      <p:sp>
        <p:nvSpPr>
          <p:cNvPr id="113" name="Google Shape;113;p3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2. Datos y metodología de trabajo</a:t>
            </a:r>
            <a:endParaRPr/>
          </a:p>
        </p:txBody>
      </p:sp>
      <p:sp>
        <p:nvSpPr>
          <p:cNvPr id="114" name="Google Shape;114;p3"/>
          <p:cNvSpPr/>
          <p:nvPr/>
        </p:nvSpPr>
        <p:spPr>
          <a:xfrm>
            <a:off x="548640" y="914400"/>
            <a:ext cx="1920240" cy="73152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3"/>
          <p:cNvSpPr txBox="1"/>
          <p:nvPr/>
        </p:nvSpPr>
        <p:spPr>
          <a:xfrm>
            <a:off x="548640" y="9875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Se utilizó el dataset Telco Customer Churn y se siguió la lógica de CRISP-DM.</a:t>
            </a:r>
            <a:endParaRPr/>
          </a:p>
        </p:txBody>
      </p:sp>
      <p:sp>
        <p:nvSpPr>
          <p:cNvPr id="116" name="Google Shape;116;p3"/>
          <p:cNvSpPr/>
          <p:nvPr/>
        </p:nvSpPr>
        <p:spPr>
          <a:xfrm>
            <a:off x="731520" y="1508760"/>
            <a:ext cx="1828800" cy="1143000"/>
          </a:xfrm>
          <a:prstGeom prst="roundRect">
            <a:avLst>
              <a:gd fmla="val 16667" name="adj"/>
            </a:avLst>
          </a:prstGeom>
          <a:solidFill>
            <a:srgbClr val="F7F7F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Registros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7.043</a:t>
            </a:r>
            <a:endParaRPr/>
          </a:p>
        </p:txBody>
      </p:sp>
      <p:sp>
        <p:nvSpPr>
          <p:cNvPr id="117" name="Google Shape;117;p3"/>
          <p:cNvSpPr/>
          <p:nvPr/>
        </p:nvSpPr>
        <p:spPr>
          <a:xfrm>
            <a:off x="2743200" y="1508760"/>
            <a:ext cx="1828800" cy="1143000"/>
          </a:xfrm>
          <a:prstGeom prst="roundRect">
            <a:avLst>
              <a:gd fmla="val 16667" name="adj"/>
            </a:avLst>
          </a:prstGeom>
          <a:solidFill>
            <a:srgbClr val="F7F7F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Variables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21</a:t>
            </a:r>
            <a:endParaRPr/>
          </a:p>
        </p:txBody>
      </p:sp>
      <p:sp>
        <p:nvSpPr>
          <p:cNvPr id="118" name="Google Shape;118;p3"/>
          <p:cNvSpPr/>
          <p:nvPr/>
        </p:nvSpPr>
        <p:spPr>
          <a:xfrm>
            <a:off x="4754880" y="1508760"/>
            <a:ext cx="1828800" cy="1143000"/>
          </a:xfrm>
          <a:prstGeom prst="roundRect">
            <a:avLst>
              <a:gd fmla="val 16667" name="adj"/>
            </a:avLst>
          </a:prstGeom>
          <a:solidFill>
            <a:srgbClr val="F7F7F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Variable objetivo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Churn</a:t>
            </a:r>
            <a:endParaRPr/>
          </a:p>
        </p:txBody>
      </p:sp>
      <p:sp>
        <p:nvSpPr>
          <p:cNvPr id="119" name="Google Shape;119;p3"/>
          <p:cNvSpPr/>
          <p:nvPr/>
        </p:nvSpPr>
        <p:spPr>
          <a:xfrm>
            <a:off x="731526" y="2971800"/>
            <a:ext cx="1920300" cy="868800"/>
          </a:xfrm>
          <a:prstGeom prst="chevron">
            <a:avLst>
              <a:gd fmla="val 50000" name="adj"/>
            </a:avLst>
          </a:prstGeom>
          <a:solidFill>
            <a:schemeClr val="dk2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Comprensión</a:t>
            </a:r>
            <a:br>
              <a:rPr b="1" lang="en-US"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lang="en-US"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del negocio</a:t>
            </a:r>
            <a:endParaRPr/>
          </a:p>
        </p:txBody>
      </p:sp>
      <p:sp>
        <p:nvSpPr>
          <p:cNvPr id="120" name="Google Shape;120;p3"/>
          <p:cNvSpPr/>
          <p:nvPr/>
        </p:nvSpPr>
        <p:spPr>
          <a:xfrm>
            <a:off x="2514600" y="2971800"/>
            <a:ext cx="1920300" cy="868800"/>
          </a:xfrm>
          <a:prstGeom prst="chevron">
            <a:avLst>
              <a:gd fmla="val 50000" name="adj"/>
            </a:avLst>
          </a:prstGeom>
          <a:solidFill>
            <a:srgbClr val="6091CC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Comprensión</a:t>
            </a:r>
            <a:br>
              <a:rPr b="1" lang="en-US"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lang="en-US"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de los datos</a:t>
            </a:r>
            <a:endParaRPr/>
          </a:p>
        </p:txBody>
      </p:sp>
      <p:sp>
        <p:nvSpPr>
          <p:cNvPr id="121" name="Google Shape;121;p3"/>
          <p:cNvSpPr/>
          <p:nvPr/>
        </p:nvSpPr>
        <p:spPr>
          <a:xfrm>
            <a:off x="4297674" y="2971800"/>
            <a:ext cx="1920300" cy="868800"/>
          </a:xfrm>
          <a:prstGeom prst="chevron">
            <a:avLst>
              <a:gd fmla="val 50000" name="adj"/>
            </a:avLst>
          </a:prstGeom>
          <a:solidFill>
            <a:schemeClr val="dk2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Preparación</a:t>
            </a:r>
            <a:br>
              <a:rPr b="1" lang="en-US"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lang="en-US"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de datos</a:t>
            </a:r>
            <a:endParaRPr/>
          </a:p>
        </p:txBody>
      </p:sp>
      <p:sp>
        <p:nvSpPr>
          <p:cNvPr id="122" name="Google Shape;122;p3"/>
          <p:cNvSpPr/>
          <p:nvPr/>
        </p:nvSpPr>
        <p:spPr>
          <a:xfrm>
            <a:off x="6080750" y="2971800"/>
            <a:ext cx="1920300" cy="868800"/>
          </a:xfrm>
          <a:prstGeom prst="chevron">
            <a:avLst>
              <a:gd fmla="val 50000" name="adj"/>
            </a:avLst>
          </a:prstGeom>
          <a:solidFill>
            <a:srgbClr val="6091CC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Modelamiento</a:t>
            </a:r>
            <a:endParaRPr/>
          </a:p>
        </p:txBody>
      </p:sp>
      <p:sp>
        <p:nvSpPr>
          <p:cNvPr id="123" name="Google Shape;123;p3"/>
          <p:cNvSpPr/>
          <p:nvPr/>
        </p:nvSpPr>
        <p:spPr>
          <a:xfrm>
            <a:off x="7863852" y="2971800"/>
            <a:ext cx="1920300" cy="868800"/>
          </a:xfrm>
          <a:prstGeom prst="chevron">
            <a:avLst>
              <a:gd fmla="val 50000" name="adj"/>
            </a:avLst>
          </a:prstGeom>
          <a:solidFill>
            <a:schemeClr val="dk2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Evaluación</a:t>
            </a:r>
            <a:endParaRPr/>
          </a:p>
        </p:txBody>
      </p:sp>
      <p:sp>
        <p:nvSpPr>
          <p:cNvPr id="124" name="Google Shape;124;p3"/>
          <p:cNvSpPr/>
          <p:nvPr/>
        </p:nvSpPr>
        <p:spPr>
          <a:xfrm>
            <a:off x="9646926" y="2971800"/>
            <a:ext cx="1920300" cy="868800"/>
          </a:xfrm>
          <a:prstGeom prst="chevron">
            <a:avLst>
              <a:gd fmla="val 50000" name="adj"/>
            </a:avLst>
          </a:prstGeom>
          <a:solidFill>
            <a:srgbClr val="6091CC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Aplicación</a:t>
            </a:r>
            <a:br>
              <a:rPr b="1" lang="en-US"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lang="en-US"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al negocio</a:t>
            </a:r>
            <a:endParaRPr/>
          </a:p>
        </p:txBody>
      </p:sp>
      <p:sp>
        <p:nvSpPr>
          <p:cNvPr id="125" name="Google Shape;125;p3"/>
          <p:cNvSpPr txBox="1"/>
          <p:nvPr/>
        </p:nvSpPr>
        <p:spPr>
          <a:xfrm>
            <a:off x="548640" y="6446520"/>
            <a:ext cx="8229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MLY1101 — Evaluación Parcial N°2 | Telco Customer Churn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"/>
          <p:cNvSpPr/>
          <p:nvPr/>
        </p:nvSpPr>
        <p:spPr>
          <a:xfrm>
            <a:off x="731520" y="1463040"/>
            <a:ext cx="5212080" cy="4389120"/>
          </a:xfrm>
          <a:prstGeom prst="roundRect">
            <a:avLst>
              <a:gd fmla="val 16667" name="adj"/>
            </a:avLst>
          </a:prstGeom>
          <a:solidFill>
            <a:srgbClr val="F7F7F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 se 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hallaron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filas completamente duplicadas.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Detectamos a 11 clientes sin cargos totales. Al revisar, vimos que eran clientes nuevos (meses = 0). Se imputaron con 0.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 eliminó customerID porque solo funciona como identificador.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Las variables categóricas se transformaron con pd.get_dummies(drop_first=True).</a:t>
            </a:r>
            <a:endParaRPr/>
          </a:p>
        </p:txBody>
      </p:sp>
      <p:sp>
        <p:nvSpPr>
          <p:cNvPr id="132" name="Google Shape;132;p4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3. Calidad y preparación de los datos</a:t>
            </a:r>
            <a:endParaRPr/>
          </a:p>
        </p:txBody>
      </p:sp>
      <p:sp>
        <p:nvSpPr>
          <p:cNvPr id="133" name="Google Shape;133;p4"/>
          <p:cNvSpPr/>
          <p:nvPr/>
        </p:nvSpPr>
        <p:spPr>
          <a:xfrm>
            <a:off x="548640" y="914400"/>
            <a:ext cx="1920240" cy="73152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4"/>
          <p:cNvSpPr txBox="1"/>
          <p:nvPr/>
        </p:nvSpPr>
        <p:spPr>
          <a:xfrm>
            <a:off x="548640" y="9875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La preparación fue clave para asegurar consistencia y reproducibilidad antes de modelar.</a:t>
            </a:r>
            <a:endParaRPr/>
          </a:p>
        </p:txBody>
      </p:sp>
      <p:sp>
        <p:nvSpPr>
          <p:cNvPr id="135" name="Google Shape;135;p4"/>
          <p:cNvSpPr/>
          <p:nvPr/>
        </p:nvSpPr>
        <p:spPr>
          <a:xfrm>
            <a:off x="6400800" y="1554480"/>
            <a:ext cx="1920240" cy="1097280"/>
          </a:xfrm>
          <a:prstGeom prst="roundRect">
            <a:avLst>
              <a:gd fmla="val 16667" name="adj"/>
            </a:avLst>
          </a:prstGeom>
          <a:solidFill>
            <a:srgbClr val="F7F7F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Split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80% / 20%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train / test con stratify=y</a:t>
            </a:r>
            <a:endParaRPr/>
          </a:p>
        </p:txBody>
      </p:sp>
      <p:sp>
        <p:nvSpPr>
          <p:cNvPr id="136" name="Google Shape;136;p4"/>
          <p:cNvSpPr/>
          <p:nvPr/>
        </p:nvSpPr>
        <p:spPr>
          <a:xfrm>
            <a:off x="8549648" y="1554475"/>
            <a:ext cx="1541700" cy="1097400"/>
          </a:xfrm>
          <a:prstGeom prst="roundRect">
            <a:avLst>
              <a:gd fmla="val 16667" name="adj"/>
            </a:avLst>
          </a:prstGeom>
          <a:solidFill>
            <a:srgbClr val="F7F7F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Escalamiento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Sí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Logística y K-Means</a:t>
            </a:r>
            <a:endParaRPr/>
          </a:p>
        </p:txBody>
      </p:sp>
      <p:sp>
        <p:nvSpPr>
          <p:cNvPr id="137" name="Google Shape;137;p4"/>
          <p:cNvSpPr/>
          <p:nvPr/>
        </p:nvSpPr>
        <p:spPr>
          <a:xfrm>
            <a:off x="10319948" y="1554475"/>
            <a:ext cx="1293000" cy="1097400"/>
          </a:xfrm>
          <a:prstGeom prst="roundRect">
            <a:avLst>
              <a:gd fmla="val 16667" name="adj"/>
            </a:avLst>
          </a:prstGeom>
          <a:solidFill>
            <a:srgbClr val="F7F7F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Baseline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73,46%</a:t>
            </a:r>
            <a:endParaRPr/>
          </a:p>
        </p:txBody>
      </p:sp>
      <p:sp>
        <p:nvSpPr>
          <p:cNvPr id="138" name="Google Shape;138;p4"/>
          <p:cNvSpPr txBox="1"/>
          <p:nvPr/>
        </p:nvSpPr>
        <p:spPr>
          <a:xfrm>
            <a:off x="6400800" y="2971800"/>
            <a:ext cx="4937760" cy="23774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50800" spcFirstLastPara="1" rIns="508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Se usó stratify para conservar la proporción de churn en entrenamiento y prueba.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StandardScaler: en Regresión Logística se ajustó solo con entrenamiento; en K-Means permitió comparar distancias entre las tres variables.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La línea base de Accuracy fue 73,46%; un modelo útil debe superar esa referencia y aportar valor en recall.</a:t>
            </a:r>
            <a:endParaRPr/>
          </a:p>
        </p:txBody>
      </p:sp>
      <p:sp>
        <p:nvSpPr>
          <p:cNvPr id="139" name="Google Shape;139;p4"/>
          <p:cNvSpPr txBox="1"/>
          <p:nvPr/>
        </p:nvSpPr>
        <p:spPr>
          <a:xfrm>
            <a:off x="548640" y="6446520"/>
            <a:ext cx="8229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MLY1101 — Evaluación Parcial N°2 | Telco Customer Churn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5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4. Hallazgos del EDA (I)</a:t>
            </a:r>
            <a:endParaRPr/>
          </a:p>
        </p:txBody>
      </p:sp>
      <p:sp>
        <p:nvSpPr>
          <p:cNvPr id="146" name="Google Shape;146;p5"/>
          <p:cNvSpPr/>
          <p:nvPr/>
        </p:nvSpPr>
        <p:spPr>
          <a:xfrm>
            <a:off x="548640" y="914400"/>
            <a:ext cx="1920240" cy="73152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5"/>
          <p:cNvSpPr txBox="1"/>
          <p:nvPr/>
        </p:nvSpPr>
        <p:spPr>
          <a:xfrm>
            <a:off x="548640" y="9875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Se observaron tasas de abandono distintas según contrato y servicio de Internet.</a:t>
            </a:r>
            <a:endParaRPr/>
          </a:p>
        </p:txBody>
      </p:sp>
      <p:pic>
        <p:nvPicPr>
          <p:cNvPr descr="contract.png" id="148" name="Google Shape;14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1417320"/>
            <a:ext cx="5394958" cy="319375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nternet.png" id="149" name="Google Shape;149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72200" y="1417320"/>
            <a:ext cx="5394960" cy="3193758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5"/>
          <p:cNvSpPr txBox="1"/>
          <p:nvPr/>
        </p:nvSpPr>
        <p:spPr>
          <a:xfrm>
            <a:off x="822960" y="5212080"/>
            <a:ext cx="109728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50800" spcFirstLastPara="1" rIns="508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Contrato mes a mes: 42,71% de abandono; contratos de dos años: solo 2,83%.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Fibra óptica </a:t>
            </a:r>
            <a:r>
              <a:rPr lang="en-US" sz="15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presenta 41,89% de </a:t>
            </a:r>
            <a:r>
              <a:rPr lang="en-US" sz="15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abandono</a:t>
            </a:r>
            <a:r>
              <a:rPr lang="en-US" sz="15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, bastante más que DSL (18,96%) y clientes sin Internet (7,40%).</a:t>
            </a:r>
            <a:endParaRPr/>
          </a:p>
        </p:txBody>
      </p:sp>
      <p:sp>
        <p:nvSpPr>
          <p:cNvPr id="151" name="Google Shape;151;p5"/>
          <p:cNvSpPr txBox="1"/>
          <p:nvPr/>
        </p:nvSpPr>
        <p:spPr>
          <a:xfrm>
            <a:off x="548640" y="6446520"/>
            <a:ext cx="8229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MLY1101 — Evaluación Parcial N°2 | Telco Customer Churn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6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5. Hallazgos del EDA (II)</a:t>
            </a:r>
            <a:endParaRPr/>
          </a:p>
        </p:txBody>
      </p:sp>
      <p:sp>
        <p:nvSpPr>
          <p:cNvPr id="158" name="Google Shape;158;p6"/>
          <p:cNvSpPr/>
          <p:nvPr/>
        </p:nvSpPr>
        <p:spPr>
          <a:xfrm>
            <a:off x="548640" y="914400"/>
            <a:ext cx="1920240" cy="73152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6"/>
          <p:cNvSpPr txBox="1"/>
          <p:nvPr/>
        </p:nvSpPr>
        <p:spPr>
          <a:xfrm>
            <a:off x="548640" y="9875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El método de pago, el soporte y la seguridad muestran asociaciones con el churn.</a:t>
            </a:r>
            <a:endParaRPr/>
          </a:p>
        </p:txBody>
      </p:sp>
      <p:pic>
        <p:nvPicPr>
          <p:cNvPr descr="payment.png" id="160" name="Google Shape;160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1325880"/>
            <a:ext cx="5577840" cy="330486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upport_security.png" id="161" name="Google Shape;161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63640" y="1325880"/>
            <a:ext cx="5394960" cy="3196505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6"/>
          <p:cNvSpPr txBox="1"/>
          <p:nvPr/>
        </p:nvSpPr>
        <p:spPr>
          <a:xfrm>
            <a:off x="777240" y="5257800"/>
            <a:ext cx="110643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50800" spcFirstLastPara="1" rIns="508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Cheque electrónico </a:t>
            </a:r>
            <a:r>
              <a:rPr lang="en-US" sz="15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alcanza la tasa más alta de abandono: 45,29%.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Sin Soporte Técnico el abandono sube a 41,64% y sin Seguridad Online a 41,77%; con esos servicios baja a ~15%.</a:t>
            </a:r>
            <a:endParaRPr/>
          </a:p>
        </p:txBody>
      </p:sp>
      <p:sp>
        <p:nvSpPr>
          <p:cNvPr id="163" name="Google Shape;163;p6"/>
          <p:cNvSpPr txBox="1"/>
          <p:nvPr/>
        </p:nvSpPr>
        <p:spPr>
          <a:xfrm>
            <a:off x="548640" y="6446520"/>
            <a:ext cx="8229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MLY1101 — Evaluación Parcial N°2 | Telco Customer Churn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7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6. Modelos supervisados y resultados</a:t>
            </a:r>
            <a:endParaRPr/>
          </a:p>
        </p:txBody>
      </p:sp>
      <p:sp>
        <p:nvSpPr>
          <p:cNvPr id="170" name="Google Shape;170;p7"/>
          <p:cNvSpPr/>
          <p:nvPr/>
        </p:nvSpPr>
        <p:spPr>
          <a:xfrm>
            <a:off x="548640" y="914400"/>
            <a:ext cx="1920240" cy="73152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7"/>
          <p:cNvSpPr txBox="1"/>
          <p:nvPr/>
        </p:nvSpPr>
        <p:spPr>
          <a:xfrm>
            <a:off x="548640" y="9875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Se compararon dos modelos con el mismo conjunto de prueba.</a:t>
            </a:r>
            <a:endParaRPr/>
          </a:p>
        </p:txBody>
      </p:sp>
      <p:graphicFrame>
        <p:nvGraphicFramePr>
          <p:cNvPr id="172" name="Google Shape;172;p7"/>
          <p:cNvGraphicFramePr/>
          <p:nvPr/>
        </p:nvGraphicFramePr>
        <p:xfrm>
          <a:off x="685800" y="141732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{F8243EC1-A7E7-49EB-8BBE-7283C523550F}</a:tableStyleId>
              </a:tblPr>
              <a:tblGrid>
                <a:gridCol w="929650"/>
                <a:gridCol w="929650"/>
                <a:gridCol w="929650"/>
                <a:gridCol w="929650"/>
                <a:gridCol w="929650"/>
                <a:gridCol w="929650"/>
              </a:tblGrid>
              <a:tr h="4876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/>
                        <a:t>Modelo</a:t>
                      </a:r>
                      <a:endParaRPr/>
                    </a:p>
                  </a:txBody>
                  <a:tcPr marT="45725" marB="45725" marR="91450" marL="91450"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/>
                        <a:t>Accuracy</a:t>
                      </a:r>
                      <a:endParaRPr/>
                    </a:p>
                  </a:txBody>
                  <a:tcPr marT="45725" marB="45725" marR="91450" marL="91450"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/>
                        <a:t>Precision</a:t>
                      </a:r>
                      <a:endParaRPr/>
                    </a:p>
                  </a:txBody>
                  <a:tcPr marT="45725" marB="45725" marR="91450" marL="91450"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/>
                        <a:t>Recall</a:t>
                      </a:r>
                      <a:endParaRPr/>
                    </a:p>
                  </a:txBody>
                  <a:tcPr marT="45725" marB="45725" marR="91450" marL="91450"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/>
                        <a:t>F1-Score</a:t>
                      </a:r>
                      <a:endParaRPr/>
                    </a:p>
                  </a:txBody>
                  <a:tcPr marT="45725" marB="45725" marR="91450" marL="91450"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/>
                        <a:t>ROC-AUC</a:t>
                      </a:r>
                      <a:endParaRPr/>
                    </a:p>
                  </a:txBody>
                  <a:tcPr marT="45725" marB="45725" marR="91450" marL="91450">
                    <a:solidFill>
                      <a:schemeClr val="dk2"/>
                    </a:solidFill>
                  </a:tcPr>
                </a:tc>
              </a:tr>
              <a:tr h="4876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cap="none" strike="noStrike"/>
                        <a:t>Regresión Logística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cap="none" strike="noStrike"/>
                        <a:t>80,70%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cap="none" strike="noStrike"/>
                        <a:t>65,84%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cap="none" strike="noStrike"/>
                        <a:t>56,68%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cap="none" strike="noStrike"/>
                        <a:t>60,92%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cap="none" strike="noStrike"/>
                        <a:t>84,18%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7F7F7"/>
                    </a:solidFill>
                  </a:tcPr>
                </a:tc>
              </a:tr>
              <a:tr h="4876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cap="none" strike="noStrike"/>
                        <a:t>Árbol de Decisión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C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cap="none" strike="noStrike"/>
                        <a:t>80,06%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C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cap="none" strike="noStrike"/>
                        <a:t>66,67%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C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cap="none" strike="noStrike"/>
                        <a:t>49,73%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C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cap="none" strike="noStrike"/>
                        <a:t>56,97%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C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cap="none" strike="noStrike"/>
                        <a:t>82,19%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CF0"/>
                    </a:solidFill>
                  </a:tcPr>
                </a:tc>
              </a:tr>
            </a:tbl>
          </a:graphicData>
        </a:graphic>
      </p:graphicFrame>
      <p:sp>
        <p:nvSpPr>
          <p:cNvPr id="173" name="Google Shape;173;p7"/>
          <p:cNvSpPr/>
          <p:nvPr/>
        </p:nvSpPr>
        <p:spPr>
          <a:xfrm>
            <a:off x="777240" y="3154680"/>
            <a:ext cx="5394960" cy="1143000"/>
          </a:xfrm>
          <a:prstGeom prst="roundRect">
            <a:avLst>
              <a:gd fmla="val 16667" name="adj"/>
            </a:avLst>
          </a:prstGeom>
          <a:solidFill>
            <a:srgbClr val="EAF4EA"/>
          </a:solidFill>
          <a:ln cap="flat" cmpd="sng" w="9525">
            <a:solidFill>
              <a:srgbClr val="357A3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57A36"/>
                </a:solidFill>
                <a:latin typeface="Calibri"/>
                <a:ea typeface="Calibri"/>
                <a:cs typeface="Calibri"/>
                <a:sym typeface="Calibri"/>
              </a:rPr>
              <a:t>Conclusión supervisada</a:t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 Regresión Logística se selecciona como mejor modelo porque obtiene el mayor recall y el mejor F1-Score, manteniendo también el ROC-AUC más alto.</a:t>
            </a:r>
            <a:endParaRPr/>
          </a:p>
        </p:txBody>
      </p:sp>
      <p:pic>
        <p:nvPicPr>
          <p:cNvPr descr="model_comparison.png" id="174" name="Google Shape;174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0" y="1417320"/>
            <a:ext cx="5212080" cy="2903562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7"/>
          <p:cNvSpPr txBox="1"/>
          <p:nvPr/>
        </p:nvSpPr>
        <p:spPr>
          <a:xfrm>
            <a:off x="548640" y="6446520"/>
            <a:ext cx="8229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MLY1101 — Evaluación Parcial N°2 | Telco Customer Churn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7. Interpretación del desempeño del modelo</a:t>
            </a:r>
            <a:endParaRPr/>
          </a:p>
        </p:txBody>
      </p:sp>
      <p:sp>
        <p:nvSpPr>
          <p:cNvPr id="182" name="Google Shape;182;p8"/>
          <p:cNvSpPr/>
          <p:nvPr/>
        </p:nvSpPr>
        <p:spPr>
          <a:xfrm>
            <a:off x="548640" y="914400"/>
            <a:ext cx="1920240" cy="73152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8"/>
          <p:cNvSpPr txBox="1"/>
          <p:nvPr/>
        </p:nvSpPr>
        <p:spPr>
          <a:xfrm>
            <a:off x="548640" y="9875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Las matrices de confusión permiten entender cuántos clientes con churn fueron detectados correctamente.</a:t>
            </a:r>
            <a:endParaRPr/>
          </a:p>
        </p:txBody>
      </p:sp>
      <p:pic>
        <p:nvPicPr>
          <p:cNvPr descr="logistic_cm.png" id="184" name="Google Shape;1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417320"/>
            <a:ext cx="4389120" cy="398280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ree_cm.png" id="185" name="Google Shape;185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49240" y="1417320"/>
            <a:ext cx="4389120" cy="4052893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8"/>
          <p:cNvSpPr txBox="1"/>
          <p:nvPr/>
        </p:nvSpPr>
        <p:spPr>
          <a:xfrm>
            <a:off x="731520" y="5440680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50800" spcFirstLastPara="1" rIns="508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Regresión Logística: detectó 212 de 374 abandonos reales; Árbol de Decisión: 186 de 374.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El modelo no debe usarse como decisión automática: aún deja sin detectar 162 abandonos reales.</a:t>
            </a:r>
            <a:endParaRPr/>
          </a:p>
        </p:txBody>
      </p:sp>
      <p:sp>
        <p:nvSpPr>
          <p:cNvPr id="187" name="Google Shape;187;p8"/>
          <p:cNvSpPr/>
          <p:nvPr/>
        </p:nvSpPr>
        <p:spPr>
          <a:xfrm>
            <a:off x="9966960" y="1691640"/>
            <a:ext cx="1554480" cy="123444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Mejor</a:t>
            </a:r>
            <a:br>
              <a:rPr b="1" lang="en-US" sz="13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lang="en-US" sz="13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modelo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Regresión</a:t>
            </a:r>
            <a:b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Logística</a:t>
            </a:r>
            <a:endParaRPr/>
          </a:p>
        </p:txBody>
      </p:sp>
      <p:sp>
        <p:nvSpPr>
          <p:cNvPr id="188" name="Google Shape;188;p8"/>
          <p:cNvSpPr txBox="1"/>
          <p:nvPr/>
        </p:nvSpPr>
        <p:spPr>
          <a:xfrm>
            <a:off x="548640" y="6446520"/>
            <a:ext cx="8229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MLY1101 — Evaluación Parcial N°2 | Telco Customer Churn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9"/>
          <p:cNvSpPr txBox="1"/>
          <p:nvPr/>
        </p:nvSpPr>
        <p:spPr>
          <a:xfrm>
            <a:off x="777240" y="5212080"/>
            <a:ext cx="10972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50800" spcFirstLastPara="1" rIns="508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El mayor Silhouette se obtuvo con K=2, pero K=4 mostró un valor similar. Además, según el método del codo, a partir de K=4 muestra una reducción progresivamente menor de la inercia.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Se seleccionó K=4 para equilibrar calidad de agrupación e interpretabilidad.</a:t>
            </a:r>
            <a:endParaRPr/>
          </a:p>
        </p:txBody>
      </p:sp>
      <p:sp>
        <p:nvSpPr>
          <p:cNvPr id="195" name="Google Shape;195;p9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8. Selección del número de clústeres</a:t>
            </a:r>
            <a:endParaRPr/>
          </a:p>
        </p:txBody>
      </p:sp>
      <p:sp>
        <p:nvSpPr>
          <p:cNvPr id="196" name="Google Shape;196;p9"/>
          <p:cNvSpPr/>
          <p:nvPr/>
        </p:nvSpPr>
        <p:spPr>
          <a:xfrm>
            <a:off x="548640" y="914400"/>
            <a:ext cx="1920240" cy="73152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9"/>
          <p:cNvSpPr txBox="1"/>
          <p:nvPr/>
        </p:nvSpPr>
        <p:spPr>
          <a:xfrm>
            <a:off x="548640" y="9875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Para K-Means se evaluaron distintos valores de K usando Inercia y Silhouette Score.</a:t>
            </a:r>
            <a:endParaRPr/>
          </a:p>
        </p:txBody>
      </p:sp>
      <p:pic>
        <p:nvPicPr>
          <p:cNvPr descr="elbow.png" id="198" name="Google Shape;19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1417320"/>
            <a:ext cx="5394960" cy="319375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ilhouette.png" id="199" name="Google Shape;199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72200" y="1417320"/>
            <a:ext cx="5394960" cy="3193758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9"/>
          <p:cNvSpPr txBox="1"/>
          <p:nvPr/>
        </p:nvSpPr>
        <p:spPr>
          <a:xfrm>
            <a:off x="548640" y="6446520"/>
            <a:ext cx="8229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MLY1101 — Evaluación Parcial N°2 | Telco Customer Churn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9. Perfil de los clústeres y abandono</a:t>
            </a:r>
            <a:endParaRPr/>
          </a:p>
        </p:txBody>
      </p:sp>
      <p:sp>
        <p:nvSpPr>
          <p:cNvPr id="207" name="Google Shape;207;p10"/>
          <p:cNvSpPr/>
          <p:nvPr/>
        </p:nvSpPr>
        <p:spPr>
          <a:xfrm>
            <a:off x="548640" y="914400"/>
            <a:ext cx="1920240" cy="73152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0"/>
          <p:cNvSpPr txBox="1"/>
          <p:nvPr/>
        </p:nvSpPr>
        <p:spPr>
          <a:xfrm>
            <a:off x="548640" y="9875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K-Means permitió descubrir segmentos con comportamientos de churn claramente diferentes.</a:t>
            </a:r>
            <a:endParaRPr/>
          </a:p>
        </p:txBody>
      </p:sp>
      <p:graphicFrame>
        <p:nvGraphicFramePr>
          <p:cNvPr id="209" name="Google Shape;209;p10"/>
          <p:cNvGraphicFramePr/>
          <p:nvPr/>
        </p:nvGraphicFramePr>
        <p:xfrm>
          <a:off x="594360" y="146304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{F8243EC1-A7E7-49EB-8BBE-7283C523550F}</a:tableStyleId>
              </a:tblPr>
              <a:tblGrid>
                <a:gridCol w="1143000"/>
                <a:gridCol w="1143000"/>
                <a:gridCol w="1143000"/>
                <a:gridCol w="1143000"/>
                <a:gridCol w="1143000"/>
              </a:tblGrid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/>
                        <a:t>Clúster</a:t>
                      </a:r>
                      <a:endParaRPr/>
                    </a:p>
                  </a:txBody>
                  <a:tcPr marT="45725" marB="45725" marR="91450" marL="91450"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/>
                        <a:t>Clientes</a:t>
                      </a:r>
                      <a:endParaRPr/>
                    </a:p>
                  </a:txBody>
                  <a:tcPr marT="45725" marB="45725" marR="91450" marL="91450"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/>
                        <a:t>tenure prom.</a:t>
                      </a:r>
                      <a:endParaRPr/>
                    </a:p>
                  </a:txBody>
                  <a:tcPr marT="45725" marB="45725" marR="91450" marL="91450"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/>
                        <a:t>MonthlyCharges</a:t>
                      </a:r>
                      <a:endParaRPr/>
                    </a:p>
                  </a:txBody>
                  <a:tcPr marT="45725" marB="45725" marR="91450" marL="91450"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/>
                        <a:t>TotalCharges</a:t>
                      </a:r>
                      <a:endParaRPr/>
                    </a:p>
                  </a:txBody>
                  <a:tcPr marT="45725" marB="45725" marR="91450" marL="91450">
                    <a:solidFill>
                      <a:schemeClr val="dk2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/>
                        <a:t>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/>
                        <a:t>1703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/>
                        <a:t>10.21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/>
                        <a:t>31.78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/>
                        <a:t>302.15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7F7F7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/>
                        <a:t>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/>
                        <a:t>1904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/>
                        <a:t>59.53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/>
                        <a:t>93.31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/>
                        <a:t>5548.65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7F7F7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/>
                        <a:t>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/>
                        <a:t>2276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/>
                        <a:t>15.42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/>
                        <a:t>80.78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/>
                        <a:t>1251.17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CFD7E7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/>
                        <a:t>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/>
                        <a:t>1160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/>
                        <a:t>53.57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/>
                        <a:t>34.91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/>
                        <a:t>1835.62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pic>
        <p:nvPicPr>
          <p:cNvPr descr="cluster_churn.png" id="210" name="Google Shape;210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46520" y="869857"/>
            <a:ext cx="5074920" cy="3004298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10"/>
          <p:cNvSpPr txBox="1"/>
          <p:nvPr/>
        </p:nvSpPr>
        <p:spPr>
          <a:xfrm>
            <a:off x="685800" y="3959352"/>
            <a:ext cx="10972800" cy="9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50800" spcFirstLastPara="1" rIns="508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Clúster 2 es el segmento crítico</a:t>
            </a:r>
            <a:r>
              <a:rPr lang="en-US" sz="15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: 2.276 clientes, tenure promedio 15,42 meses y churn de 48,24%.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Clúster 3 es el más estable</a:t>
            </a:r>
            <a:r>
              <a:rPr lang="en-US" sz="15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: churn de solo 5,00%.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Esto permite focalizar acciones de retención según perfil de cliente, no solo a nivel individual.</a:t>
            </a:r>
            <a:endParaRPr/>
          </a:p>
        </p:txBody>
      </p:sp>
      <p:sp>
        <p:nvSpPr>
          <p:cNvPr id="212" name="Google Shape;212;p10"/>
          <p:cNvSpPr txBox="1"/>
          <p:nvPr/>
        </p:nvSpPr>
        <p:spPr>
          <a:xfrm>
            <a:off x="548640" y="6446520"/>
            <a:ext cx="8229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MLY1101 — Evaluación Parcial N°2 | Telco Customer Churn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10. Visualización de clústeres mediante PCA</a:t>
            </a:r>
            <a:endParaRPr/>
          </a:p>
        </p:txBody>
      </p:sp>
      <p:sp>
        <p:nvSpPr>
          <p:cNvPr id="219" name="Google Shape;219;p11"/>
          <p:cNvSpPr/>
          <p:nvPr/>
        </p:nvSpPr>
        <p:spPr>
          <a:xfrm>
            <a:off x="548640" y="914400"/>
            <a:ext cx="1920240" cy="73152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1"/>
          <p:cNvSpPr txBox="1"/>
          <p:nvPr/>
        </p:nvSpPr>
        <p:spPr>
          <a:xfrm>
            <a:off x="548640" y="9875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PCA no crea los clústeres: se utiliza solamente para representarlos en dos dimensiones.</a:t>
            </a:r>
            <a:endParaRPr/>
          </a:p>
        </p:txBody>
      </p:sp>
      <p:pic>
        <p:nvPicPr>
          <p:cNvPr descr="pca_clusters.png" id="221" name="Google Shape;221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960" y="1325880"/>
            <a:ext cx="6766560" cy="467722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11"/>
          <p:cNvSpPr/>
          <p:nvPr/>
        </p:nvSpPr>
        <p:spPr>
          <a:xfrm>
            <a:off x="8046720" y="1737360"/>
            <a:ext cx="1554480" cy="1097280"/>
          </a:xfrm>
          <a:prstGeom prst="roundRect">
            <a:avLst>
              <a:gd fmla="val 16667" name="adj"/>
            </a:avLst>
          </a:prstGeom>
          <a:solidFill>
            <a:srgbClr val="F7F7F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PC1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72.69%</a:t>
            </a:r>
            <a:endParaRPr/>
          </a:p>
        </p:txBody>
      </p:sp>
      <p:sp>
        <p:nvSpPr>
          <p:cNvPr id="223" name="Google Shape;223;p11"/>
          <p:cNvSpPr/>
          <p:nvPr/>
        </p:nvSpPr>
        <p:spPr>
          <a:xfrm>
            <a:off x="9784080" y="1737360"/>
            <a:ext cx="1554480" cy="1097280"/>
          </a:xfrm>
          <a:prstGeom prst="roundRect">
            <a:avLst>
              <a:gd fmla="val 16667" name="adj"/>
            </a:avLst>
          </a:prstGeom>
          <a:solidFill>
            <a:srgbClr val="F7F7F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PC2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25.33%</a:t>
            </a:r>
            <a:endParaRPr/>
          </a:p>
        </p:txBody>
      </p:sp>
      <p:sp>
        <p:nvSpPr>
          <p:cNvPr id="224" name="Google Shape;224;p11"/>
          <p:cNvSpPr/>
          <p:nvPr/>
        </p:nvSpPr>
        <p:spPr>
          <a:xfrm>
            <a:off x="8046720" y="3108960"/>
            <a:ext cx="3291840" cy="1097280"/>
          </a:xfrm>
          <a:prstGeom prst="roundRect">
            <a:avLst>
              <a:gd fmla="val 16667" name="adj"/>
            </a:avLst>
          </a:prstGeom>
          <a:solidFill>
            <a:srgbClr val="F7F7F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Varianza acumulada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98.01%</a:t>
            </a:r>
            <a:endParaRPr/>
          </a:p>
        </p:txBody>
      </p:sp>
      <p:sp>
        <p:nvSpPr>
          <p:cNvPr id="225" name="Google Shape;225;p11"/>
          <p:cNvSpPr txBox="1"/>
          <p:nvPr/>
        </p:nvSpPr>
        <p:spPr>
          <a:xfrm>
            <a:off x="8046725" y="4526274"/>
            <a:ext cx="3291900" cy="13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50800" spcFirstLastPara="1" rIns="508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La representación muestra grupos diferenciados, aunque con cierto solapamiento en zonas de frontera.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La reducción a dos componentes conserva el 98,01% de la varianza observada de las tres variables usadas en el clustering.</a:t>
            </a:r>
            <a:endParaRPr/>
          </a:p>
        </p:txBody>
      </p:sp>
      <p:sp>
        <p:nvSpPr>
          <p:cNvPr id="226" name="Google Shape;226;p11"/>
          <p:cNvSpPr txBox="1"/>
          <p:nvPr/>
        </p:nvSpPr>
        <p:spPr>
          <a:xfrm>
            <a:off x="548640" y="6446520"/>
            <a:ext cx="8229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MLY1101 — Evaluación Parcial N°2 | Telco Customer Churn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11. Conclusiones, recomendaciones y consideraciones éticas</a:t>
            </a:r>
            <a:endParaRPr/>
          </a:p>
        </p:txBody>
      </p:sp>
      <p:sp>
        <p:nvSpPr>
          <p:cNvPr id="233" name="Google Shape;233;p12"/>
          <p:cNvSpPr/>
          <p:nvPr/>
        </p:nvSpPr>
        <p:spPr>
          <a:xfrm>
            <a:off x="548640" y="914400"/>
            <a:ext cx="1920240" cy="73152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2"/>
          <p:cNvSpPr txBox="1"/>
          <p:nvPr/>
        </p:nvSpPr>
        <p:spPr>
          <a:xfrm>
            <a:off x="548640" y="9875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Cierre ejecutivo del proyecto.</a:t>
            </a:r>
            <a:endParaRPr/>
          </a:p>
        </p:txBody>
      </p:sp>
      <p:sp>
        <p:nvSpPr>
          <p:cNvPr id="235" name="Google Shape;235;p12"/>
          <p:cNvSpPr/>
          <p:nvPr/>
        </p:nvSpPr>
        <p:spPr>
          <a:xfrm>
            <a:off x="685800" y="1417320"/>
            <a:ext cx="5394960" cy="4480560"/>
          </a:xfrm>
          <a:prstGeom prst="roundRect">
            <a:avLst>
              <a:gd fmla="val 16667" name="adj"/>
            </a:avLst>
          </a:prstGeom>
          <a:solidFill>
            <a:srgbClr val="F7F7F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Conclusiones clave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La Regresión Logística fue el mejor modelo supervisado para este caso.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El </a:t>
            </a:r>
            <a:r>
              <a:rPr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abandono </a:t>
            </a:r>
            <a:r>
              <a:rPr b="0"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 asocia especialmente a contrato mes a mes, fibra óptica, </a:t>
            </a:r>
            <a:r>
              <a:rPr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cheque electrónico</a:t>
            </a:r>
            <a:r>
              <a:rPr b="0"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y la ausencia de soporte/seguridad.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El Clúster 2 concentra el mayor riesgo y debe priorizarse en futuras acciones de retención.</a:t>
            </a:r>
            <a:endParaRPr/>
          </a:p>
        </p:txBody>
      </p:sp>
      <p:sp>
        <p:nvSpPr>
          <p:cNvPr id="236" name="Google Shape;236;p12"/>
          <p:cNvSpPr/>
          <p:nvPr/>
        </p:nvSpPr>
        <p:spPr>
          <a:xfrm>
            <a:off x="6355080" y="1417320"/>
            <a:ext cx="5166360" cy="4480560"/>
          </a:xfrm>
          <a:prstGeom prst="roundRect">
            <a:avLst>
              <a:gd fmla="val 16667" name="adj"/>
            </a:avLst>
          </a:prstGeom>
          <a:solidFill>
            <a:srgbClr val="FCFCF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Recomendaciones y ética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Diseñar campañas específicas para clientes recientes con cargos altos y alto riesgo de abandono.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</a:t>
            </a:r>
            <a:r>
              <a:rPr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futuro, probar el modelo con más variables y ajustar los umbrales para detectar aún más clientes en riesgo.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No usar la predicción como único criterio: un modelo entrega apoyo, no certeza.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• Evitar decisiones automáticas </a:t>
            </a:r>
            <a:r>
              <a:rPr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 priorizar la super</a:t>
            </a:r>
            <a:r>
              <a:rPr b="0"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visión humana</a:t>
            </a:r>
            <a:r>
              <a:rPr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para evitar sesgos que discriminen a cliente.</a:t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2"/>
          <p:cNvSpPr txBox="1"/>
          <p:nvPr/>
        </p:nvSpPr>
        <p:spPr>
          <a:xfrm>
            <a:off x="548640" y="6446520"/>
            <a:ext cx="8229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MLY1101 — Evaluación Parcial N°2 | Telco Customer Churn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7F7"/>
        </a:solidFill>
      </p:bgPr>
    </p:bg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13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7171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3"/>
          <p:cNvSpPr txBox="1"/>
          <p:nvPr/>
        </p:nvSpPr>
        <p:spPr>
          <a:xfrm>
            <a:off x="4723847" y="1828800"/>
            <a:ext cx="2622385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71717"/>
                </a:solidFill>
                <a:latin typeface="Calibri"/>
                <a:ea typeface="Calibri"/>
                <a:cs typeface="Calibri"/>
                <a:sym typeface="Calibri"/>
              </a:rPr>
              <a:t>Muchas gracias</a:t>
            </a:r>
            <a:endParaRPr/>
          </a:p>
        </p:txBody>
      </p:sp>
      <p:sp>
        <p:nvSpPr>
          <p:cNvPr id="245" name="Google Shape;245;p13"/>
          <p:cNvSpPr txBox="1"/>
          <p:nvPr/>
        </p:nvSpPr>
        <p:spPr>
          <a:xfrm>
            <a:off x="548640" y="6446520"/>
            <a:ext cx="8229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MLY1101 — Evaluación Parcial N°2 | Telco Customer Churn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>Equipo Telco Customer Churn</dc:creator>
</cp:coreProperties>
</file>